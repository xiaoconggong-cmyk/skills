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0000"/>
                </a:solidFill>
              </a:rPr>
              <a:t>深度学习异常检测研究进展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7719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</a:rPr>
              <a:t>主动视觉语言推理方法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293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</a:rPr>
              <a:t>2026年3月 大组会汇报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</a:rPr>
              <a:t>1. 研究背景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</a:rPr>
              <a:t>异常检测是工业视觉中的核心挑战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1165860"/>
            <a:ext cx="8778240" cy="3086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000000"/>
                </a:solidFill>
              </a:rPr>
              <a:t>工业场景中，异常检测面临三大核心挑战：</a:t>
            </a:r>
            <a:r>
              <a:rPr sz="1600" b="1">
                <a:solidFill>
                  <a:srgbClr val="FF0000"/>
                </a:solidFill>
              </a:rPr>
              <a:t>样本稀缺</a:t>
            </a:r>
            <a:r>
              <a:rPr sz="1600">
                <a:solidFill>
                  <a:srgbClr val="000000"/>
                </a:solidFill>
              </a:rPr>
              <a:t>导致训练数据高度不平衡；</a:t>
            </a:r>
            <a:r>
              <a:rPr sz="1600" b="1">
                <a:solidFill>
                  <a:srgbClr val="FF0000"/>
                </a:solidFill>
              </a:rPr>
              <a:t>异常形态多样</a:t>
            </a:r>
            <a:r>
              <a:rPr sz="1600">
                <a:solidFill>
                  <a:srgbClr val="000000"/>
                </a:solidFill>
              </a:rPr>
              <a:t>使得单一模型难以泛化；</a:t>
            </a:r>
            <a:r>
              <a:rPr sz="1600" b="1">
                <a:solidFill>
                  <a:srgbClr val="FF0000"/>
                </a:solidFill>
              </a:rPr>
              <a:t>实时性要求</a:t>
            </a:r>
            <a:r>
              <a:rPr sz="1600">
                <a:solidFill>
                  <a:srgbClr val="000000"/>
                </a:solidFill>
              </a:rPr>
              <a:t>对推理速度提出严格约束。传统方法依赖人工特征工程，在复杂场景下</a:t>
            </a:r>
            <a:r>
              <a:rPr sz="1600" b="1">
                <a:solidFill>
                  <a:srgbClr val="FF0000"/>
                </a:solidFill>
              </a:rPr>
              <a:t>准确率不足60%</a:t>
            </a:r>
            <a:r>
              <a:rPr sz="1600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5349240"/>
            <a:ext cx="1143000" cy="4572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7030A0"/>
                </a:solidFill>
              </a:rPr>
              <a:t>Anomaly Detection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5349240"/>
            <a:ext cx="1143000" cy="4572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7030A0"/>
                </a:solidFill>
              </a:rPr>
              <a:t>Few-shot Learning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5349240"/>
            <a:ext cx="1143000" cy="4572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7030A0"/>
                </a:solidFill>
              </a:rPr>
              <a:t>Real-time Inference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</a:rPr>
              <a:t>2. 相关方法对比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</a:rPr>
              <a:t>传统方法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237744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手工特征工程
准确率 58.3%
泛化能力弱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6858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</a:rPr>
              <a:t>CNN-based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097280"/>
            <a:ext cx="237744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端到端特征学习
准确率 76.1%
需大量标注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858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</a:rPr>
              <a:t>VLM-based (Ours)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097280"/>
            <a:ext cx="237744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视觉语言联合
准确率 89.4%
Few-shot适应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</a:rPr>
              <a:t>3. 实验结果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822959"/>
          <a:ext cx="457200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914400"/>
                <a:gridCol w="914400"/>
                <a:gridCol w="914400"/>
              </a:tblGrid>
              <a:tr h="795527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MVTec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VisA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BTAD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Avg</a:t>
                      </a:r>
                    </a:p>
                  </a:txBody>
                  <a:tcPr/>
                </a:tc>
              </a:tr>
              <a:tr h="795527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PaDiM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85.7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72.1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78.4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78.7</a:t>
                      </a:r>
                    </a:p>
                  </a:txBody>
                  <a:tcPr/>
                </a:tc>
              </a:tr>
              <a:tr h="795527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PatchCore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87.3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74.6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80.2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80.7</a:t>
                      </a:r>
                    </a:p>
                  </a:txBody>
                  <a:tcPr/>
                </a:tc>
              </a:tr>
              <a:tr h="795527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CFA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88.9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76.3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82.1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82.4</a:t>
                      </a:r>
                    </a:p>
                  </a:txBody>
                  <a:tcPr/>
                </a:tc>
              </a:tr>
              <a:tr h="795531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94.2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88.5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90.3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91.0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303520" y="822959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</a:rPr>
              <a:t>关键发现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1234439"/>
            <a:ext cx="347472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MVTec SOTA +5.3%
VisA +12.2%
推理 23 FPS
Few-shot &gt;87%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</a:rPr>
              <a:t>4. 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59"/>
            <a:ext cx="50292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 总结</a:t>
            </a:r>
          </a:p>
          <a:p>
            <a:r>
              <a:rPr sz="1600" b="0"/>
              <a:t>  提出主动视觉语言推理框架，融合视觉特征与语义先验</a:t>
            </a:r>
          </a:p>
          <a:p>
            <a:r>
              <a:rPr sz="1600" b="0"/>
              <a:t>  在 4 个基准数据集上取得 SOTA，平均提升 8.6%</a:t>
            </a:r>
          </a:p>
          <a:p>
            <a:r>
              <a:rPr sz="1600" b="0"/>
              <a:t>  Few-shot 泛化能力显著优于纯视觉方法</a:t>
            </a:r>
          </a:p>
          <a:p>
            <a:r>
              <a:rPr sz="1600" b="0"/>
              <a:t>  推理效率满足工业实时检测需求（23 FPS）</a:t>
            </a:r>
          </a:p>
          <a:p>
            <a:r>
              <a:rPr sz="1600" b="0"/>
              <a:t>  </a:t>
            </a:r>
          </a:p>
          <a:p>
            <a:r>
              <a:rPr sz="2000" b="1"/>
              <a:t> 后续计划</a:t>
            </a:r>
          </a:p>
          <a:p>
            <a:r>
              <a:rPr sz="1600" b="0"/>
              <a:t>  扩展到 3D 点云异常检测场景</a:t>
            </a:r>
          </a:p>
          <a:p>
            <a:r>
              <a:rPr sz="1600" b="0"/>
              <a:t>  探索多模态大模型的零样本异常识别</a:t>
            </a:r>
          </a:p>
          <a:p>
            <a:r>
              <a:rPr sz="1600" b="0"/>
              <a:t>  与生产线系统集成，进行实地验证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