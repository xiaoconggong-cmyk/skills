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7373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</a:rPr>
              <a:t>1. 本周概览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" y="676656"/>
            <a:ext cx="8732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</a:rPr>
              <a:t>三主线并行，四项核心任务 100% 完成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" y="1133856"/>
            <a:ext cx="8823959" cy="1209040"/>
          </a:xfrm>
          <a:prstGeom prst="rect">
            <a:avLst/>
          </a:prstGeom>
          <a:noFill/>
          <a:ln w="6350">
            <a:solidFill>
              <a:srgbClr val="9CA3A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" y="1179576"/>
            <a:ext cx="8732519" cy="111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000000"/>
                </a:solidFill>
              </a:rPr>
              <a:t>生产环境部署：</a:t>
            </a:r>
            <a:r>
              <a:rPr sz="1600" b="0">
                <a:solidFill>
                  <a:srgbClr val="000000"/>
                </a:solidFill>
              </a:rPr>
              <a:t>部署脚本 805 行，覆盖 RS 初始化、全量+增量备份、Prometheus 监控、</a:t>
            </a:r>
            <a:r>
              <a:rPr sz="1600" b="1">
                <a:solidFill>
                  <a:srgbClr val="FF0000"/>
                </a:solidFill>
              </a:rPr>
              <a:t>8 维度健康检查</a:t>
            </a:r>
            <a:r>
              <a:rPr sz="1600" b="0">
                <a:solidFill>
                  <a:srgbClr val="000000"/>
                </a:solidFill>
              </a:rPr>
              <a:t>，健康评分 78.6%。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000000"/>
                </a:solidFill>
              </a:rPr>
              <a:t>文档体系构建：</a:t>
            </a:r>
            <a:r>
              <a:rPr sz="1600" b="0">
                <a:solidFill>
                  <a:srgbClr val="000000"/>
                </a:solidFill>
              </a:rPr>
              <a:t>设计文档、使用手册、运维手册、团队培训材料，共 ~76KB，8+7+8+8 章。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000000"/>
                </a:solidFill>
              </a:rPr>
              <a:t>蒸馏闭环（夜间）：</a:t>
            </a:r>
            <a:r>
              <a:rPr sz="1600" b="0">
                <a:solidFill>
                  <a:srgbClr val="000000"/>
                </a:solidFill>
              </a:rPr>
              <a:t>teacher 生成 → student 训练 → 自动评估三阶段管线打通，评估集 v1→v2→v3，蒸馏后综合评分 +20.2%。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000000"/>
                </a:solidFill>
              </a:rPr>
              <a:t>专项协作：</a:t>
            </a:r>
            <a:r>
              <a:rPr sz="1600" b="0">
                <a:solidFill>
                  <a:srgbClr val="000000"/>
                </a:solidFill>
              </a:rPr>
              <a:t>周一会议 4 事项（验收清单/传感器/物联网图层/通信对接）、周二论文大纲 6 章+初稿 ~8000 字、周三-周四 IoT 平台学习 2 天。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" y="2434336"/>
            <a:ext cx="4572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7030A0"/>
                </a:solidFill>
              </a:rPr>
              <a:t>生产部署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82495" y="2434336"/>
            <a:ext cx="4572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7030A0"/>
                </a:solidFill>
              </a:rPr>
              <a:t>文档体系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7373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</a:rPr>
              <a:t>2. 问题与挑战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" y="676656"/>
            <a:ext cx="8732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</a:rPr>
              <a:t>主动视觉语言推理中的关键难题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" y="1133856"/>
            <a:ext cx="8823959" cy="975360"/>
          </a:xfrm>
          <a:prstGeom prst="rect">
            <a:avLst/>
          </a:prstGeom>
          <a:noFill/>
          <a:ln w="6350">
            <a:solidFill>
              <a:srgbClr val="9CA3A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" y="1179576"/>
            <a:ext cx="8732519" cy="883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000000"/>
                </a:solidFill>
              </a:rPr>
              <a:t>问题定义：</a:t>
            </a:r>
            <a:r>
              <a:rPr sz="1600" b="0">
                <a:solidFill>
                  <a:srgbClr val="000000"/>
                </a:solidFill>
              </a:rPr>
              <a:t>现有方法多依赖</a:t>
            </a:r>
            <a:r>
              <a:rPr sz="1600" b="1">
                <a:solidFill>
                  <a:srgbClr val="FF0000"/>
                </a:solidFill>
              </a:rPr>
              <a:t>一次性的全局感知</a:t>
            </a:r>
            <a:r>
              <a:rPr sz="1600" b="0">
                <a:solidFill>
                  <a:srgbClr val="000000"/>
                </a:solidFill>
              </a:rPr>
              <a:t>，无法捕捉细粒度的语义关系，导致在复杂场景下性能显著下降。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000000"/>
                </a:solidFill>
              </a:rPr>
              <a:t>核心挑战：</a:t>
            </a:r>
            <a:r>
              <a:rPr sz="1600" b="0">
                <a:solidFill>
                  <a:srgbClr val="000000"/>
                </a:solidFill>
              </a:rPr>
              <a:t>（1）样本稀缺问题：标注数据获取成本高，且分布不均；（2）</a:t>
            </a:r>
            <a:r>
              <a:rPr sz="1600" b="1">
                <a:solidFill>
                  <a:srgbClr val="FF0000"/>
                </a:solidFill>
              </a:rPr>
              <a:t>多模态对齐</a:t>
            </a:r>
            <a:r>
              <a:rPr sz="1600" b="0">
                <a:solidFill>
                  <a:srgbClr val="000000"/>
                </a:solidFill>
              </a:rPr>
              <a:t>困难：视觉-语言特征空间差异大；（3）推理效率瓶颈：大模型参数量大，部署成本高。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000000"/>
                </a:solidFill>
              </a:rPr>
              <a:t>解决方案：</a:t>
            </a:r>
            <a:r>
              <a:rPr sz="1600" b="0">
                <a:solidFill>
                  <a:srgbClr val="000000"/>
                </a:solidFill>
              </a:rPr>
              <a:t>提出</a:t>
            </a:r>
            <a:r>
              <a:rPr sz="1600" b="1">
                <a:solidFill>
                  <a:srgbClr val="FF0000"/>
                </a:solidFill>
              </a:rPr>
              <a:t>主动聚焦机制</a:t>
            </a:r>
            <a:r>
              <a:rPr sz="1600" b="0">
                <a:solidFill>
                  <a:srgbClr val="000000"/>
                </a:solidFill>
              </a:rPr>
              <a:t>，通过动态注意力选择，在关键区域上集中计算资源，同时保持全局感知能力。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" y="2200656"/>
            <a:ext cx="4572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7030A0"/>
                </a:solidFill>
              </a:rPr>
              <a:t>被动感知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82495" y="2200656"/>
            <a:ext cx="457200" cy="2743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7030A0"/>
                </a:solidFill>
              </a:rPr>
              <a:t>主动聚焦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7373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</a:rPr>
              <a:t>3. 系统架构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" y="777240"/>
            <a:ext cx="4297679" cy="2103120"/>
          </a:xfrm>
          <a:prstGeom prst="rect">
            <a:avLst/>
          </a:prstGeom>
          <a:noFill/>
          <a:ln w="6350">
            <a:solidFill>
              <a:srgbClr val="9CA3A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" y="8229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</a:rPr>
              <a:t>模块 A：数据预处理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" y="1097280"/>
            <a:ext cx="4206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000000"/>
                </a:solidFill>
              </a:rPr>
              <a:t>输入：原始图像（224×224）+ 文本描述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000000"/>
                </a:solidFill>
              </a:rPr>
              <a:t>处理：图像编码器提取视觉特征，文本编码器提取语义特征，</a:t>
            </a:r>
            <a:r>
              <a:rPr sz="1600" b="1">
                <a:solidFill>
                  <a:srgbClr val="FF0000"/>
                </a:solidFill>
              </a:rPr>
              <a:t>对比学习</a:t>
            </a:r>
            <a:r>
              <a:rPr sz="1600" b="0">
                <a:solidFill>
                  <a:srgbClr val="000000"/>
                </a:solidFill>
              </a:rPr>
              <a:t>对齐两个空间。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709160" y="777240"/>
            <a:ext cx="4297679" cy="2103120"/>
          </a:xfrm>
          <a:prstGeom prst="rect">
            <a:avLst/>
          </a:prstGeom>
          <a:noFill/>
          <a:ln w="6350">
            <a:solidFill>
              <a:srgbClr val="9CA3A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8229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</a:rPr>
              <a:t>模块 B：主动聚焦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097280"/>
            <a:ext cx="4206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000000"/>
                </a:solidFill>
              </a:rPr>
              <a:t>机制：基于</a:t>
            </a:r>
            <a:r>
              <a:rPr sz="1600" b="1">
                <a:solidFill>
                  <a:srgbClr val="FF0000"/>
                </a:solidFill>
              </a:rPr>
              <a:t>注意力热图</a:t>
            </a:r>
            <a:r>
              <a:rPr sz="1600" b="0">
                <a:solidFill>
                  <a:srgbClr val="000000"/>
                </a:solidFill>
              </a:rPr>
              <a:t>动态选择 ROI，减少 60% 计算量。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000000"/>
                </a:solidFill>
              </a:rPr>
              <a:t>输出：聚焦区域特征 + 全局上下文向量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" y="3063240"/>
            <a:ext cx="4297679" cy="2103120"/>
          </a:xfrm>
          <a:prstGeom prst="rect">
            <a:avLst/>
          </a:prstGeom>
          <a:noFill/>
          <a:ln w="6350">
            <a:solidFill>
              <a:srgbClr val="9CA3A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" y="31089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</a:rPr>
              <a:t>模块 C：推理融合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" y="3383279"/>
            <a:ext cx="4206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000000"/>
                </a:solidFill>
              </a:rPr>
              <a:t>融合策略：</a:t>
            </a:r>
            <a:r>
              <a:rPr sz="1600" b="1">
                <a:solidFill>
                  <a:srgbClr val="FF0000"/>
                </a:solidFill>
              </a:rPr>
              <a:t>交叉注意力</a:t>
            </a:r>
            <a:r>
              <a:rPr sz="1600" b="0">
                <a:solidFill>
                  <a:srgbClr val="000000"/>
                </a:solidFill>
              </a:rPr>
              <a:t> + 门控机制，动态平衡局部与全局信息。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000000"/>
                </a:solidFill>
              </a:rPr>
              <a:t>性能：在 VQA 任务上提升 12.3%，推理速度提升 2.1×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60" y="3063240"/>
            <a:ext cx="4297679" cy="2103120"/>
          </a:xfrm>
          <a:prstGeom prst="rect">
            <a:avLst/>
          </a:prstGeom>
          <a:noFill/>
          <a:ln w="6350">
            <a:solidFill>
              <a:srgbClr val="9CA3A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31089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</a:rPr>
              <a:t>模块 D：蒸馏优化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383279"/>
            <a:ext cx="4206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000000"/>
                </a:solidFill>
              </a:rPr>
              <a:t>teacher-student 框架：大模型指导小模型，</a:t>
            </a:r>
            <a:r>
              <a:rPr sz="1600" b="1">
                <a:solidFill>
                  <a:srgbClr val="FF0000"/>
                </a:solidFill>
              </a:rPr>
              <a:t>知识蒸馏</a:t>
            </a:r>
            <a:r>
              <a:rPr sz="1600" b="0">
                <a:solidFill>
                  <a:srgbClr val="000000"/>
                </a:solidFill>
              </a:rPr>
              <a:t>保持性能同时压缩模型。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000000"/>
                </a:solidFill>
              </a:rPr>
              <a:t>效果：模型体积减少 75%，精度损失 &lt; 2%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